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0000" y="1550000"/>
            <a:ext cx="101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</a:rPr>
              <a:t>Implementación de una Solución de Inteligencia de Negocios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7744" y="2703648"/>
            <a:ext cx="101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0" dirty="0">
                <a:solidFill>
                  <a:srgbClr val="9DC3E6"/>
                </a:solidFill>
              </a:rPr>
              <a:t>para la </a:t>
            </a:r>
            <a:r>
              <a:rPr lang="es-PE" sz="2600" b="0" dirty="0">
                <a:solidFill>
                  <a:srgbClr val="9DC3E6"/>
                </a:solidFill>
              </a:rPr>
              <a:t>Optimización</a:t>
            </a:r>
            <a:r>
              <a:rPr sz="2600" b="0" dirty="0">
                <a:solidFill>
                  <a:srgbClr val="9DC3E6"/>
                </a:solidFill>
              </a:rPr>
              <a:t> de la Toma de </a:t>
            </a:r>
            <a:r>
              <a:rPr lang="es-PE" sz="2600" b="0" dirty="0">
                <a:solidFill>
                  <a:srgbClr val="9DC3E6"/>
                </a:solidFill>
              </a:rPr>
              <a:t>Decisiones</a:t>
            </a:r>
            <a:r>
              <a:rPr sz="2600" b="0" dirty="0">
                <a:solidFill>
                  <a:srgbClr val="9DC3E6"/>
                </a:solidFill>
              </a:rPr>
              <a:t> </a:t>
            </a:r>
            <a:r>
              <a:rPr lang="es-PE" sz="2600" b="0" dirty="0">
                <a:solidFill>
                  <a:srgbClr val="9DC3E6"/>
                </a:solidFill>
              </a:rPr>
              <a:t>en</a:t>
            </a:r>
            <a:r>
              <a:rPr sz="2600" b="0" dirty="0">
                <a:solidFill>
                  <a:srgbClr val="9DC3E6"/>
                </a:solidFill>
              </a:rPr>
              <a:t> un Retail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0" y="3250000"/>
            <a:ext cx="10192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</a:rPr>
              <a:t>Evaluación Final — Inteligencia de Negocios y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4100000"/>
            <a:ext cx="10192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</a:rPr>
              <a:t>Curso: Inteligencia de Negocios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000" y="4520000"/>
            <a:ext cx="10192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</a:rPr>
              <a:t>Docente: Madrid Casariego Jaime Leandro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4940000"/>
            <a:ext cx="10192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</a:rPr>
              <a:t>Integrantes: Sebastian Candela Ortiz  |  Walter Salazar Cristóbal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000" y="5900000"/>
            <a:ext cx="10192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DC3E6"/>
                </a:solidFill>
              </a:rPr>
              <a:t>Lima – Perú,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0000"/>
            <a:ext cx="12192000" cy="90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0000" y="300000"/>
            <a:ext cx="11192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Modelo Relacional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1600000"/>
            <a:ext cx="54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500" b="1">
                <a:solidFill>
                  <a:srgbClr val="0070C0"/>
                </a:solidFill>
              </a:rPr>
              <a:t>DWH Operacional </a:t>
            </a:r>
            <a:r>
              <a:rPr sz="1500" b="0">
                <a:solidFill>
                  <a:srgbClr val="333333"/>
                </a:solidFill>
              </a:rPr>
              <a:t>diseñado y normalizado para el análisis comercial.</a:t>
            </a: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0070C0"/>
                </a:solidFill>
              </a:rPr>
              <a:t>Modelo dimensional </a:t>
            </a:r>
            <a:r>
              <a:rPr sz="1500" b="0">
                <a:solidFill>
                  <a:srgbClr val="333333"/>
                </a:solidFill>
              </a:rPr>
              <a:t>tipo estrella: 1 tabla de hechos + 5 dimensiones.</a:t>
            </a: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0070C0"/>
                </a:solidFill>
              </a:rPr>
              <a:t>Tabla de hechos: </a:t>
            </a:r>
            <a:r>
              <a:rPr sz="1500" b="0">
                <a:solidFill>
                  <a:srgbClr val="333333"/>
                </a:solidFill>
              </a:rPr>
              <a:t>factVentas (ventas del retail).</a:t>
            </a: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0070C0"/>
                </a:solidFill>
              </a:rPr>
              <a:t>Dimensiones: </a:t>
            </a:r>
            <a:r>
              <a:rPr sz="1500" b="0">
                <a:solidFill>
                  <a:srgbClr val="333333"/>
                </a:solidFill>
              </a:rPr>
              <a:t>Producto, Promoción, Tiempo, Contexto y Tienda.</a:t>
            </a: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0070C0"/>
                </a:solidFill>
              </a:rPr>
              <a:t>Claves subrogadas </a:t>
            </a:r>
            <a:r>
              <a:rPr sz="1500" b="0">
                <a:solidFill>
                  <a:srgbClr val="333333"/>
                </a:solidFill>
              </a:rPr>
              <a:t>que vinculan cada venta con sus dimensiones.</a:t>
            </a: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0070C0"/>
                </a:solidFill>
              </a:rPr>
              <a:t>Proceso ETL </a:t>
            </a:r>
            <a:r>
              <a:rPr sz="1500" b="0">
                <a:solidFill>
                  <a:srgbClr val="333333"/>
                </a:solidFill>
              </a:rPr>
              <a:t>definido para poblar el modelo desde los orígenes.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0000" y="1650000"/>
            <a:ext cx="5600000" cy="460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2295665"/>
            <a:ext cx="5300000" cy="33086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50000" y="6400000"/>
            <a:ext cx="56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</a:rPr>
              <a:t>Modelo dimensional en estrella del DWH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0000"/>
            <a:ext cx="12192000" cy="90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0000" y="300000"/>
            <a:ext cx="11192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Extracción, Limpieza y Carga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1600000"/>
            <a:ext cx="54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500" b="1">
                <a:solidFill>
                  <a:srgbClr val="0070C0"/>
                </a:solidFill>
              </a:rPr>
              <a:t>ETL en SSIS </a:t>
            </a:r>
            <a:r>
              <a:rPr sz="1500" b="0">
                <a:solidFill>
                  <a:srgbClr val="333333"/>
                </a:solidFill>
              </a:rPr>
              <a:t>(SQL Server Integration Services).</a:t>
            </a: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0070C0"/>
                </a:solidFill>
              </a:rPr>
              <a:t>Extracción: </a:t>
            </a:r>
            <a:r>
              <a:rPr sz="1500" b="0">
                <a:solidFill>
                  <a:srgbClr val="333333"/>
                </a:solidFill>
              </a:rPr>
              <a:t>archivos Excel/CSV del retail (ventas, inventario, promociones y productos).</a:t>
            </a: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0070C0"/>
                </a:solidFill>
              </a:rPr>
              <a:t>Limpieza y transformación: </a:t>
            </a:r>
            <a:r>
              <a:rPr sz="1500" b="0">
                <a:solidFill>
                  <a:srgbClr val="333333"/>
                </a:solidFill>
              </a:rPr>
              <a:t>tipos de datos corregidos (fecha, decimal, entero) y columnas derivadas (trimestre, estación, categoría).</a:t>
            </a: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0070C0"/>
                </a:solidFill>
              </a:rPr>
              <a:t>Carga de dimensiones: </a:t>
            </a:r>
            <a:r>
              <a:rPr sz="1500" b="0">
                <a:solidFill>
                  <a:srgbClr val="333333"/>
                </a:solidFill>
              </a:rPr>
              <a:t>5 paquetes con el patrón Origen Excel → Columna derivada → Ordenar → Destino.</a:t>
            </a: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0070C0"/>
                </a:solidFill>
              </a:rPr>
              <a:t>Carga de hechos: </a:t>
            </a:r>
            <a:r>
              <a:rPr sz="1500" b="0">
                <a:solidFill>
                  <a:srgbClr val="333333"/>
                </a:solidFill>
              </a:rPr>
              <a:t>factVentas valida cada venta contra las 5 dimensiones (Lookup de claves subrogadas).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0000" y="1650000"/>
            <a:ext cx="5600000" cy="460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2852054"/>
            <a:ext cx="5300000" cy="21958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50000" y="6400000"/>
            <a:ext cx="56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</a:rPr>
              <a:t>Proceso ETL en SQL Server Integration Services (SSIS)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0000"/>
            <a:ext cx="12192000" cy="90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0000" y="300000"/>
            <a:ext cx="11192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ETL en detalle — Flujo de carga en SSIS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000" y="1300000"/>
            <a:ext cx="25500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dirty="0">
                <a:solidFill>
                  <a:srgbClr val="1F3864"/>
                </a:solidFill>
              </a:rPr>
              <a:t>1. </a:t>
            </a:r>
            <a:r>
              <a:rPr sz="1500" b="1" dirty="0" err="1">
                <a:solidFill>
                  <a:srgbClr val="1F3864"/>
                </a:solidFill>
              </a:rPr>
              <a:t>Extraer</a:t>
            </a:r>
            <a:endParaRPr sz="1500" b="1" dirty="0">
              <a:solidFill>
                <a:srgbClr val="1F3864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96000" y="1650000"/>
            <a:ext cx="2550000" cy="230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00" y="1849125"/>
            <a:ext cx="2250000" cy="19017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96000" y="4000000"/>
            <a:ext cx="255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</a:rPr>
              <a:t>Origen de datos en Excel/CSV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606000" y="2620000"/>
            <a:ext cx="200000" cy="360000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66000" y="1300000"/>
            <a:ext cx="255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F3864"/>
                </a:solidFill>
              </a:rPr>
              <a:t>2. Limpiar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66000" y="1650000"/>
            <a:ext cx="2550000" cy="230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000" y="1851678"/>
            <a:ext cx="2250000" cy="18966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866000" y="4000000"/>
            <a:ext cx="255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</a:rPr>
              <a:t>Conversión de tipos de datos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476000" y="2620000"/>
            <a:ext cx="200000" cy="360000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36000" y="1300000"/>
            <a:ext cx="255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F3864"/>
                </a:solidFill>
              </a:rPr>
              <a:t>3. Validar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36000" y="1650000"/>
            <a:ext cx="2550000" cy="230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6000" y="2319183"/>
            <a:ext cx="2250000" cy="96163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36000" y="4000000"/>
            <a:ext cx="255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</a:rPr>
              <a:t>Cadena de búsquedas (Lookup)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46000" y="2620000"/>
            <a:ext cx="200000" cy="360000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6000" y="1300000"/>
            <a:ext cx="255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F3864"/>
                </a:solidFill>
              </a:rPr>
              <a:t>4. Cargar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6000" y="1650000"/>
            <a:ext cx="2550000" cy="230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6000" y="1843295"/>
            <a:ext cx="2250000" cy="191340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06000" y="4000000"/>
            <a:ext cx="255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</a:rPr>
              <a:t>Destino OLE DB en el DWH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000" y="4600000"/>
            <a:ext cx="109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Cada venta recorre el flujo: se extrae del origen, se limpian sus tipos de datos, se valida contra las 5 dimensiones (obteniendo su clave subrogada) y se carga en factVentas.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0000"/>
            <a:ext cx="12192000" cy="90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0000" y="300000"/>
            <a:ext cx="11192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Validación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1600000"/>
            <a:ext cx="55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500" b="1">
                <a:solidFill>
                  <a:srgbClr val="0070C0"/>
                </a:solidFill>
              </a:rPr>
              <a:t>Origen vs Destino: </a:t>
            </a:r>
            <a:r>
              <a:rPr sz="1500" b="0">
                <a:solidFill>
                  <a:srgbClr val="333333"/>
                </a:solidFill>
              </a:rPr>
              <a:t>conteo de registros del origen comparado contra el DWH; los totales coinciden fila por fila.</a:t>
            </a: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0070C0"/>
                </a:solidFill>
              </a:rPr>
              <a:t>Tipos de datos: </a:t>
            </a:r>
            <a:r>
              <a:rPr sz="1500" b="0">
                <a:solidFill>
                  <a:srgbClr val="333333"/>
                </a:solidFill>
              </a:rPr>
              <a:t>fechas, precios decimales y cantidades enteras validadas en el modelo.</a:t>
            </a: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0070C0"/>
                </a:solidFill>
              </a:rPr>
              <a:t>Calidad: </a:t>
            </a:r>
            <a:r>
              <a:rPr sz="1500" b="0">
                <a:solidFill>
                  <a:srgbClr val="333333"/>
                </a:solidFill>
              </a:rPr>
              <a:t>0 valores nulos y 0 duplicados detectados.</a:t>
            </a: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0070C0"/>
                </a:solidFill>
              </a:rPr>
              <a:t>Valores atípicos: </a:t>
            </a:r>
            <a:r>
              <a:rPr sz="1500" b="0">
                <a:solidFill>
                  <a:srgbClr val="333333"/>
                </a:solidFill>
              </a:rPr>
              <a:t>70 precios atípicos (0.09%) identificados y tratados.</a:t>
            </a: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0070C0"/>
                </a:solidFill>
              </a:rPr>
              <a:t>Datos inconsistentes: </a:t>
            </a:r>
            <a:r>
              <a:rPr sz="1500" b="0">
                <a:solidFill>
                  <a:srgbClr val="333333"/>
                </a:solidFill>
              </a:rPr>
              <a:t>20 productos con categoría inconsistente corregidos.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0000" y="1600000"/>
            <a:ext cx="5400000" cy="34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50000" y="1630000"/>
            <a:ext cx="480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</a:rPr>
              <a:t>Resultado de la validación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0" y="1940000"/>
            <a:ext cx="5400000" cy="66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50000" y="2090000"/>
            <a:ext cx="4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Registros validados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00000" y="2090000"/>
            <a:ext cx="1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</a:rPr>
              <a:t>76,000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00000"/>
            <a:ext cx="5400000" cy="6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50000" y="2750000"/>
            <a:ext cx="4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Valores nulos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00000" y="2750000"/>
            <a:ext cx="1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260000"/>
            <a:ext cx="5400000" cy="66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50000" y="3410000"/>
            <a:ext cx="4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Duplicados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00000" y="3410000"/>
            <a:ext cx="1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</a:rP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3920000"/>
            <a:ext cx="5400000" cy="6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50000" y="4070000"/>
            <a:ext cx="4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Precios atípicos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00000" y="4070000"/>
            <a:ext cx="1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</a:rPr>
              <a:t>70 (0.09%)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580000"/>
            <a:ext cx="5400000" cy="66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50000" y="4730000"/>
            <a:ext cx="4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Categorías corregidas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00000" y="4730000"/>
            <a:ext cx="1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0000"/>
            <a:ext cx="12192000" cy="90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0000" y="300000"/>
            <a:ext cx="11192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Consumo de Datos — Dashboard en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1600000"/>
            <a:ext cx="54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500" b="1">
                <a:solidFill>
                  <a:srgbClr val="0070C0"/>
                </a:solidFill>
              </a:rPr>
              <a:t>Dashboard interactivo </a:t>
            </a:r>
            <a:r>
              <a:rPr sz="1500" b="0">
                <a:solidFill>
                  <a:srgbClr val="333333"/>
                </a:solidFill>
              </a:rPr>
              <a:t>en Power BI conectado al DWH.</a:t>
            </a: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0070C0"/>
                </a:solidFill>
              </a:rPr>
              <a:t>Paneles: </a:t>
            </a:r>
            <a:r>
              <a:rPr sz="1500" b="0">
                <a:solidFill>
                  <a:srgbClr val="333333"/>
                </a:solidFill>
              </a:rPr>
              <a:t>Ventas mensuales por mes y año (2022, 2023, ene-2024), Top productos, Top tienda (S003 – East, 21.6%) y Rentabilidad.</a:t>
            </a: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0070C0"/>
                </a:solidFill>
              </a:rPr>
              <a:t>Parámetros interactivos </a:t>
            </a:r>
            <a:r>
              <a:rPr sz="1500" b="0">
                <a:solidFill>
                  <a:srgbClr val="333333"/>
                </a:solidFill>
              </a:rPr>
              <a:t>(slicers) de Región y Categoría.</a:t>
            </a: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0070C0"/>
                </a:solidFill>
              </a:rPr>
              <a:t>Filtrado dinámico </a:t>
            </a:r>
            <a:r>
              <a:rPr sz="1500" b="0">
                <a:solidFill>
                  <a:srgbClr val="333333"/>
                </a:solidFill>
              </a:rPr>
              <a:t>de todos los visuales según el segmento de interés.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38BDAF3-A13E-B0C7-BF3E-C55AE1D24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7534" y="1636192"/>
            <a:ext cx="6416933" cy="37770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0000"/>
            <a:ext cx="12192000" cy="90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0000" y="300000"/>
            <a:ext cx="11192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Consumo de Datos — Paneles del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1000" y="1300000"/>
            <a:ext cx="345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dirty="0">
                <a:solidFill>
                  <a:srgbClr val="1F3864"/>
                </a:solidFill>
              </a:rPr>
              <a:t>Top </a:t>
            </a:r>
            <a:r>
              <a:rPr sz="1500" b="1" dirty="0" err="1">
                <a:solidFill>
                  <a:srgbClr val="1F3864"/>
                </a:solidFill>
              </a:rPr>
              <a:t>productos</a:t>
            </a:r>
            <a:endParaRPr sz="1500" b="1" dirty="0">
              <a:solidFill>
                <a:srgbClr val="1F3864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21000" y="1650000"/>
            <a:ext cx="3450000" cy="230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000" y="1942913"/>
            <a:ext cx="3150000" cy="17141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1000" y="4000000"/>
            <a:ext cx="345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</a:rPr>
              <a:t>Ranking por venta neta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431000" y="2620000"/>
            <a:ext cx="200000" cy="360000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91000" y="1300000"/>
            <a:ext cx="345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F3864"/>
                </a:solidFill>
              </a:rPr>
              <a:t>Top tienda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91000" y="1650000"/>
            <a:ext cx="3450000" cy="230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000" y="1770000"/>
            <a:ext cx="3050000" cy="20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91000" y="4000000"/>
            <a:ext cx="345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dirty="0">
                <a:solidFill>
                  <a:srgbClr val="333333"/>
                </a:solidFill>
              </a:rPr>
              <a:t>S003 (East) — 21.6% del total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201000" y="2620000"/>
            <a:ext cx="200000" cy="360000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61000" y="1300000"/>
            <a:ext cx="345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F3864"/>
                </a:solidFill>
              </a:rPr>
              <a:t>Rentabilidad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61000" y="1650000"/>
            <a:ext cx="3450000" cy="230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1000" y="1789706"/>
            <a:ext cx="3150000" cy="20205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461000" y="4000000"/>
            <a:ext cx="345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</a:rPr>
              <a:t>Margen vs precio de la competencia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000" y="6308000"/>
            <a:ext cx="109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dirty="0">
                <a:solidFill>
                  <a:srgbClr val="333333"/>
                </a:solidFill>
              </a:rPr>
              <a:t>Los 4 </a:t>
            </a:r>
            <a:r>
              <a:rPr sz="1500" b="0" dirty="0" err="1">
                <a:solidFill>
                  <a:srgbClr val="333333"/>
                </a:solidFill>
              </a:rPr>
              <a:t>paneles</a:t>
            </a:r>
            <a:r>
              <a:rPr sz="1500" b="0" dirty="0">
                <a:solidFill>
                  <a:srgbClr val="333333"/>
                </a:solidFill>
              </a:rPr>
              <a:t> (Ventas </a:t>
            </a:r>
            <a:r>
              <a:rPr sz="1500" b="0" dirty="0" err="1">
                <a:solidFill>
                  <a:srgbClr val="333333"/>
                </a:solidFill>
              </a:rPr>
              <a:t>mensuales</a:t>
            </a:r>
            <a:r>
              <a:rPr sz="1500" b="0" dirty="0">
                <a:solidFill>
                  <a:srgbClr val="333333"/>
                </a:solidFill>
              </a:rPr>
              <a:t>, Top </a:t>
            </a:r>
            <a:r>
              <a:rPr sz="1500" b="0" dirty="0" err="1">
                <a:solidFill>
                  <a:srgbClr val="333333"/>
                </a:solidFill>
              </a:rPr>
              <a:t>productos</a:t>
            </a:r>
            <a:r>
              <a:rPr sz="1500" b="0" dirty="0">
                <a:solidFill>
                  <a:srgbClr val="333333"/>
                </a:solidFill>
              </a:rPr>
              <a:t>, Top tienda y </a:t>
            </a:r>
            <a:r>
              <a:rPr sz="1500" b="0" dirty="0" err="1">
                <a:solidFill>
                  <a:srgbClr val="333333"/>
                </a:solidFill>
              </a:rPr>
              <a:t>Rentabilidad</a:t>
            </a:r>
            <a:r>
              <a:rPr sz="1500" b="0" dirty="0">
                <a:solidFill>
                  <a:srgbClr val="333333"/>
                </a:solidFill>
              </a:rPr>
              <a:t>) se </a:t>
            </a:r>
            <a:r>
              <a:rPr sz="1500" b="0" dirty="0" err="1">
                <a:solidFill>
                  <a:srgbClr val="333333"/>
                </a:solidFill>
              </a:rPr>
              <a:t>controlan</a:t>
            </a:r>
            <a:r>
              <a:rPr sz="1500" b="0" dirty="0">
                <a:solidFill>
                  <a:srgbClr val="333333"/>
                </a:solidFill>
              </a:rPr>
              <a:t> con </a:t>
            </a:r>
            <a:r>
              <a:rPr sz="1500" b="0" dirty="0" err="1">
                <a:solidFill>
                  <a:srgbClr val="333333"/>
                </a:solidFill>
              </a:rPr>
              <a:t>los</a:t>
            </a:r>
            <a:r>
              <a:rPr sz="1500" b="0" dirty="0">
                <a:solidFill>
                  <a:srgbClr val="333333"/>
                </a:solidFill>
              </a:rPr>
              <a:t> </a:t>
            </a:r>
            <a:r>
              <a:rPr sz="1500" b="0" dirty="0" err="1">
                <a:solidFill>
                  <a:srgbClr val="333333"/>
                </a:solidFill>
              </a:rPr>
              <a:t>parámetros</a:t>
            </a:r>
            <a:r>
              <a:rPr sz="1500" b="0" dirty="0">
                <a:solidFill>
                  <a:srgbClr val="333333"/>
                </a:solidFill>
              </a:rPr>
              <a:t> </a:t>
            </a:r>
            <a:r>
              <a:rPr sz="1500" b="0" dirty="0" err="1">
                <a:solidFill>
                  <a:srgbClr val="333333"/>
                </a:solidFill>
              </a:rPr>
              <a:t>interactivos</a:t>
            </a:r>
            <a:r>
              <a:rPr sz="1500" b="0" dirty="0">
                <a:solidFill>
                  <a:srgbClr val="333333"/>
                </a:solidFill>
              </a:rPr>
              <a:t> de </a:t>
            </a:r>
            <a:r>
              <a:rPr sz="1500" b="0" dirty="0" err="1">
                <a:solidFill>
                  <a:srgbClr val="333333"/>
                </a:solidFill>
              </a:rPr>
              <a:t>Región</a:t>
            </a:r>
            <a:r>
              <a:rPr sz="1500" b="0" dirty="0">
                <a:solidFill>
                  <a:srgbClr val="333333"/>
                </a:solidFill>
              </a:rPr>
              <a:t> y </a:t>
            </a:r>
            <a:r>
              <a:rPr sz="1500" b="0" dirty="0" err="1">
                <a:solidFill>
                  <a:srgbClr val="333333"/>
                </a:solidFill>
              </a:rPr>
              <a:t>Categoría</a:t>
            </a:r>
            <a:r>
              <a:rPr sz="1500" b="0" dirty="0">
                <a:solidFill>
                  <a:srgbClr val="333333"/>
                </a:solidFill>
              </a:rPr>
              <a:t>, que </a:t>
            </a:r>
            <a:r>
              <a:rPr sz="1500" b="0" dirty="0" err="1">
                <a:solidFill>
                  <a:srgbClr val="333333"/>
                </a:solidFill>
              </a:rPr>
              <a:t>filtran</a:t>
            </a:r>
            <a:r>
              <a:rPr sz="1500" b="0" dirty="0">
                <a:solidFill>
                  <a:srgbClr val="333333"/>
                </a:solidFill>
              </a:rPr>
              <a:t> </a:t>
            </a:r>
            <a:r>
              <a:rPr sz="1500" b="0" dirty="0" err="1">
                <a:solidFill>
                  <a:srgbClr val="333333"/>
                </a:solidFill>
              </a:rPr>
              <a:t>todos</a:t>
            </a:r>
            <a:r>
              <a:rPr sz="1500" b="0" dirty="0">
                <a:solidFill>
                  <a:srgbClr val="333333"/>
                </a:solidFill>
              </a:rPr>
              <a:t> </a:t>
            </a:r>
            <a:r>
              <a:rPr sz="1500" b="0" dirty="0" err="1">
                <a:solidFill>
                  <a:srgbClr val="333333"/>
                </a:solidFill>
              </a:rPr>
              <a:t>los</a:t>
            </a:r>
            <a:r>
              <a:rPr sz="1500" b="0" dirty="0">
                <a:solidFill>
                  <a:srgbClr val="333333"/>
                </a:solidFill>
              </a:rPr>
              <a:t> </a:t>
            </a:r>
            <a:r>
              <a:rPr sz="1500" b="0" dirty="0" err="1">
                <a:solidFill>
                  <a:srgbClr val="333333"/>
                </a:solidFill>
              </a:rPr>
              <a:t>visuales</a:t>
            </a:r>
            <a:r>
              <a:rPr sz="1500" b="0" dirty="0">
                <a:solidFill>
                  <a:srgbClr val="333333"/>
                </a:solidFill>
              </a:rPr>
              <a:t> </a:t>
            </a:r>
            <a:r>
              <a:rPr sz="1500" b="0" dirty="0" err="1">
                <a:solidFill>
                  <a:srgbClr val="333333"/>
                </a:solidFill>
              </a:rPr>
              <a:t>en</a:t>
            </a:r>
            <a:r>
              <a:rPr sz="1500" b="0" dirty="0">
                <a:solidFill>
                  <a:srgbClr val="333333"/>
                </a:solidFill>
              </a:rPr>
              <a:t> </a:t>
            </a:r>
            <a:r>
              <a:rPr sz="1500" b="0" dirty="0" err="1">
                <a:solidFill>
                  <a:srgbClr val="333333"/>
                </a:solidFill>
              </a:rPr>
              <a:t>tiempo</a:t>
            </a:r>
            <a:r>
              <a:rPr sz="1500" b="0" dirty="0">
                <a:solidFill>
                  <a:srgbClr val="333333"/>
                </a:solidFill>
              </a:rPr>
              <a:t> real.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832914E-7325-DD9D-3668-E5F262F858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000" y="4476275"/>
            <a:ext cx="3244532" cy="16854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90665D70-75DD-1BF8-40B8-FA9FFEFC49C1}"/>
              </a:ext>
            </a:extLst>
          </p:cNvPr>
          <p:cNvSpPr txBox="1"/>
          <p:nvPr/>
        </p:nvSpPr>
        <p:spPr>
          <a:xfrm>
            <a:off x="3251804" y="4648459"/>
            <a:ext cx="34500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s-ES" sz="1500" b="1" dirty="0">
                <a:solidFill>
                  <a:srgbClr val="1F3864"/>
                </a:solidFill>
              </a:rPr>
              <a:t>Ventas Mensuales</a:t>
            </a:r>
            <a:endParaRPr sz="1500" b="1" dirty="0">
              <a:solidFill>
                <a:srgbClr val="1F3864"/>
              </a:solidFill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6EBD6F0-82F5-0DCA-041D-A25193B809E4}"/>
              </a:ext>
            </a:extLst>
          </p:cNvPr>
          <p:cNvSpPr/>
          <p:nvPr/>
        </p:nvSpPr>
        <p:spPr>
          <a:xfrm>
            <a:off x="4243402" y="5028998"/>
            <a:ext cx="5157048" cy="4000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300" dirty="0">
                <a:solidFill>
                  <a:srgbClr val="333333"/>
                </a:solidFill>
              </a:rPr>
              <a:t>Evolución mensual de las ventas netas, comparando el desempeño de 2022, 2023 y enero 2024.</a:t>
            </a:r>
            <a:endParaRPr lang="es-PE" sz="1300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0000"/>
            <a:ext cx="12192000" cy="90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0000" y="300000"/>
            <a:ext cx="11192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Consumo de Datos — KPIs obtenidos (1 de 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1320000"/>
            <a:ext cx="4200000" cy="32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0000" y="1380000"/>
            <a:ext cx="39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</a:rPr>
              <a:t>Criterio 04 — 4 puntos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0000" y="1450000"/>
            <a:ext cx="2150000" cy="430000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00000" y="1450000"/>
            <a:ext cx="2150000" cy="110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000" y="1580000"/>
            <a:ext cx="2000000" cy="22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0000" y="3900000"/>
            <a:ext cx="195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</a:rPr>
              <a:t>Ventas netas totales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000" y="4750000"/>
            <a:ext cx="1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</a:rPr>
              <a:t>$412.6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000" y="5250000"/>
            <a:ext cx="195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</a:rPr>
              <a:t>2022 – enero 2024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10500" y="1450000"/>
            <a:ext cx="2150000" cy="430000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10500" y="1450000"/>
            <a:ext cx="2150000" cy="110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85500" y="1580000"/>
            <a:ext cx="2000000" cy="22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kpi_ventas_2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500" y="2064194"/>
            <a:ext cx="1800080" cy="116134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810500" y="3900000"/>
            <a:ext cx="195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</a:rPr>
              <a:t>Ventas netas 2023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10500" y="4750000"/>
            <a:ext cx="1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</a:rPr>
              <a:t>$196.1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0500" y="5250000"/>
            <a:ext cx="195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</a:rPr>
              <a:t>−2.5% vs 2022 ($201.2 M)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1000" y="1450000"/>
            <a:ext cx="2150000" cy="430000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1000" y="1450000"/>
            <a:ext cx="2150000" cy="110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96000" y="1580000"/>
            <a:ext cx="2000000" cy="22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kpi_unida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6000" y="2064194"/>
            <a:ext cx="1940000" cy="125161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121000" y="3900000"/>
            <a:ext cx="195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</a:rPr>
              <a:t>Unidades vendidas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1000" y="4750000"/>
            <a:ext cx="1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</a:rPr>
              <a:t>6,750,876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1000" y="5250000"/>
            <a:ext cx="195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</a:rPr>
              <a:t>2022 – enero 2024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31500" y="1450000"/>
            <a:ext cx="2150000" cy="430000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31500" y="1450000"/>
            <a:ext cx="2150000" cy="110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406500" y="1580000"/>
            <a:ext cx="2000000" cy="22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kpi_diar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6500" y="2064194"/>
            <a:ext cx="1940000" cy="125161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431500" y="3900000"/>
            <a:ext cx="195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</a:rPr>
              <a:t>Ventas diarias promedio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31500" y="4750000"/>
            <a:ext cx="1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</a:rPr>
              <a:t>$542,882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31500" y="5250000"/>
            <a:ext cx="195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</a:rPr>
              <a:t>Total de las 5 tiendas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42000" y="1450000"/>
            <a:ext cx="2150000" cy="430000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642000" y="1450000"/>
            <a:ext cx="2150000" cy="110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717000" y="1580000"/>
            <a:ext cx="2000000" cy="22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7000" y="2034852"/>
            <a:ext cx="1940000" cy="131029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742000" y="3900000"/>
            <a:ext cx="195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</a:rPr>
              <a:t>Top tienda con mayor venta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42000" y="4750000"/>
            <a:ext cx="1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</a:rPr>
              <a:t>S003 (East) — $89.3 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42000" y="5250000"/>
            <a:ext cx="195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</a:rPr>
              <a:t>21.6% de las ventas totales</a:t>
            </a:r>
          </a:p>
        </p:txBody>
      </p:sp>
      <p:pic>
        <p:nvPicPr>
          <p:cNvPr id="43" name="Picture 10" descr="kpi_ventas_mes.png">
            <a:extLst>
              <a:ext uri="{FF2B5EF4-FFF2-40B4-BE49-F238E27FC236}">
                <a16:creationId xmlns:a16="http://schemas.microsoft.com/office/drawing/2014/main" id="{CD79C2E8-6C37-3D5D-CDA4-313BA6890E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000" y="2064194"/>
            <a:ext cx="1940000" cy="12516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0000"/>
            <a:ext cx="12192000" cy="90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0000" y="300000"/>
            <a:ext cx="11192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Consumo de Datos — KPIs obtenidos (2 de 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1320000"/>
            <a:ext cx="4200000" cy="32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0000" y="1380000"/>
            <a:ext cx="39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</a:rPr>
              <a:t>Criterio 04 — 4 puntos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0000" y="1450000"/>
            <a:ext cx="2150000" cy="430000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00000" y="1450000"/>
            <a:ext cx="2150000" cy="110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000" y="1580000"/>
            <a:ext cx="2000000" cy="22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000" y="2162143"/>
            <a:ext cx="1940000" cy="105571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0000" y="3900000"/>
            <a:ext cx="195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</a:rPr>
              <a:t>Top producto con mayor venta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000" y="4750000"/>
            <a:ext cx="1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</a:rPr>
              <a:t>P0020 (Furniture) — $16.3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000" y="5250000"/>
            <a:ext cx="195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</a:rPr>
              <a:t>Categoría con mayor aporte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10500" y="1450000"/>
            <a:ext cx="2150000" cy="430000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10500" y="1450000"/>
            <a:ext cx="2150000" cy="110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85500" y="1580000"/>
            <a:ext cx="2000000" cy="22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10500" y="3900000"/>
            <a:ext cx="195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</a:rPr>
              <a:t>Efecto de la promoción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10500" y="4750000"/>
            <a:ext cx="1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</a:rPr>
              <a:t>Demanda 123 vs 95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0500" y="5250000"/>
            <a:ext cx="195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</a:rPr>
              <a:t>≈ +30% de demanda promedio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1000" y="1450000"/>
            <a:ext cx="2150000" cy="430000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1000" y="1450000"/>
            <a:ext cx="2150000" cy="110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96000" y="1580000"/>
            <a:ext cx="2000000" cy="22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kpi_descuen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6000" y="2064194"/>
            <a:ext cx="1940000" cy="125161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121000" y="3900000"/>
            <a:ext cx="195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</a:rPr>
              <a:t>Descuento promedio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1000" y="4750000"/>
            <a:ext cx="1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</a:rPr>
              <a:t>9.1%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1000" y="5250000"/>
            <a:ext cx="195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</a:rPr>
              <a:t>Rango de 0% a 25%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31500" y="1450000"/>
            <a:ext cx="2150000" cy="430000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31500" y="1450000"/>
            <a:ext cx="2150000" cy="110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406500" y="1580000"/>
            <a:ext cx="2000000" cy="22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kpi_inventar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6500" y="2064194"/>
            <a:ext cx="1940000" cy="125161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431500" y="3900000"/>
            <a:ext cx="195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</a:rPr>
              <a:t>Inventario promedio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31500" y="4750000"/>
            <a:ext cx="1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</a:rPr>
              <a:t>301 unidades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31500" y="5250000"/>
            <a:ext cx="195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</a:rPr>
              <a:t>Por producto y tienda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42000" y="1450000"/>
            <a:ext cx="2150000" cy="430000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642000" y="1450000"/>
            <a:ext cx="2150000" cy="110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717000" y="1580000"/>
            <a:ext cx="2000000" cy="22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kpi_deman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7000" y="2064194"/>
            <a:ext cx="1940000" cy="125161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742000" y="3900000"/>
            <a:ext cx="195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</a:rPr>
              <a:t>Demanda promedio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42000" y="4750000"/>
            <a:ext cx="1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</a:rPr>
              <a:t>104 unidades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42000" y="5250000"/>
            <a:ext cx="195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</a:rPr>
              <a:t>Por producto, tienda y día</a:t>
            </a:r>
          </a:p>
        </p:txBody>
      </p:sp>
      <p:pic>
        <p:nvPicPr>
          <p:cNvPr id="43" name="Picture 17" descr="kpi_promocion.png">
            <a:extLst>
              <a:ext uri="{FF2B5EF4-FFF2-40B4-BE49-F238E27FC236}">
                <a16:creationId xmlns:a16="http://schemas.microsoft.com/office/drawing/2014/main" id="{CDD56CDB-EE42-FC77-46E2-B083616A14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5500" y="2064194"/>
            <a:ext cx="1940000" cy="12516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0000"/>
            <a:ext cx="12192000" cy="90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0000" y="300000"/>
            <a:ext cx="11192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Resultados del análisis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6000" y="1300000"/>
            <a:ext cx="50000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s-ES" sz="1500" b="1" dirty="0">
                <a:solidFill>
                  <a:srgbClr val="1F3864"/>
                </a:solidFill>
              </a:rPr>
              <a:t>Modelo Descriptivo</a:t>
            </a:r>
            <a:endParaRPr sz="1500" b="1" dirty="0">
              <a:solidFill>
                <a:srgbClr val="1F3864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96000" y="1650000"/>
            <a:ext cx="5000000" cy="230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617" y="1770000"/>
            <a:ext cx="3458765" cy="206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6000" y="4000000"/>
            <a:ext cx="5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</a:rPr>
              <a:t>Promoción, clima y estacionalidad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156000" y="2620000"/>
            <a:ext cx="200000" cy="360000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6000" y="1300000"/>
            <a:ext cx="5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F3864"/>
                </a:solidFill>
              </a:rPr>
              <a:t>Modelo predictivo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16000" y="1650000"/>
            <a:ext cx="5000000" cy="230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000" y="1914589"/>
            <a:ext cx="4700000" cy="177082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16000" y="4000000"/>
            <a:ext cx="5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</a:rPr>
              <a:t>Piloto Random Forest, R² = 0.74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000" y="4600000"/>
            <a:ext cx="109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La promoción es el principal impulsor (≈ +30% de demanda); el clima y la estacionalidad condicionan la demanda. Un piloto predictivo con Random Forest alcanzó un R² de 0.74 al validar con enero 2024.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0000"/>
            <a:ext cx="12192000" cy="90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0000" y="300000"/>
            <a:ext cx="11192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Conclusiones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1600000"/>
            <a:ext cx="1099200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lang="es-ES" sz="1500" b="1" dirty="0">
                <a:solidFill>
                  <a:srgbClr val="0070C0"/>
                </a:solidFill>
              </a:rPr>
              <a:t>1.</a:t>
            </a:r>
            <a:r>
              <a:rPr sz="1500" b="1" dirty="0" err="1">
                <a:solidFill>
                  <a:srgbClr val="0070C0"/>
                </a:solidFill>
              </a:rPr>
              <a:t>Modelo</a:t>
            </a:r>
            <a:r>
              <a:rPr sz="1500" b="1" dirty="0">
                <a:solidFill>
                  <a:srgbClr val="0070C0"/>
                </a:solidFill>
              </a:rPr>
              <a:t> </a:t>
            </a:r>
            <a:r>
              <a:rPr sz="1500" b="1" dirty="0" err="1">
                <a:solidFill>
                  <a:srgbClr val="0070C0"/>
                </a:solidFill>
              </a:rPr>
              <a:t>relacional</a:t>
            </a:r>
            <a:r>
              <a:rPr sz="1500" b="1" dirty="0">
                <a:solidFill>
                  <a:srgbClr val="0070C0"/>
                </a:solidFill>
              </a:rPr>
              <a:t>: </a:t>
            </a:r>
            <a:r>
              <a:rPr sz="1500" b="0" dirty="0">
                <a:solidFill>
                  <a:srgbClr val="333333"/>
                </a:solidFill>
              </a:rPr>
              <a:t>se </a:t>
            </a:r>
            <a:r>
              <a:rPr sz="1500" b="0" dirty="0" err="1">
                <a:solidFill>
                  <a:srgbClr val="333333"/>
                </a:solidFill>
              </a:rPr>
              <a:t>implementó</a:t>
            </a:r>
            <a:r>
              <a:rPr sz="1500" b="0" dirty="0">
                <a:solidFill>
                  <a:srgbClr val="333333"/>
                </a:solidFill>
              </a:rPr>
              <a:t> un DWH </a:t>
            </a:r>
            <a:r>
              <a:rPr sz="1500" b="0" dirty="0" err="1">
                <a:solidFill>
                  <a:srgbClr val="333333"/>
                </a:solidFill>
              </a:rPr>
              <a:t>operacional</a:t>
            </a:r>
            <a:r>
              <a:rPr sz="1500" b="0" dirty="0">
                <a:solidFill>
                  <a:srgbClr val="333333"/>
                </a:solidFill>
              </a:rPr>
              <a:t> </a:t>
            </a:r>
            <a:r>
              <a:rPr sz="1500" b="0" dirty="0" err="1">
                <a:solidFill>
                  <a:srgbClr val="333333"/>
                </a:solidFill>
              </a:rPr>
              <a:t>en</a:t>
            </a:r>
            <a:r>
              <a:rPr sz="1500" b="0" dirty="0">
                <a:solidFill>
                  <a:srgbClr val="333333"/>
                </a:solidFill>
              </a:rPr>
              <a:t> </a:t>
            </a:r>
            <a:r>
              <a:rPr sz="1500" b="0" dirty="0" err="1">
                <a:solidFill>
                  <a:srgbClr val="333333"/>
                </a:solidFill>
              </a:rPr>
              <a:t>estrella</a:t>
            </a:r>
            <a:r>
              <a:rPr sz="1500" b="0" dirty="0">
                <a:solidFill>
                  <a:srgbClr val="333333"/>
                </a:solidFill>
              </a:rPr>
              <a:t> con 5 </a:t>
            </a:r>
            <a:r>
              <a:rPr sz="1500" b="0" dirty="0" err="1">
                <a:solidFill>
                  <a:srgbClr val="333333"/>
                </a:solidFill>
              </a:rPr>
              <a:t>dimensiones</a:t>
            </a:r>
            <a:r>
              <a:rPr sz="1500" b="0" dirty="0">
                <a:solidFill>
                  <a:srgbClr val="333333"/>
                </a:solidFill>
              </a:rPr>
              <a:t> (</a:t>
            </a:r>
            <a:r>
              <a:rPr sz="1500" b="0" dirty="0" err="1">
                <a:solidFill>
                  <a:srgbClr val="333333"/>
                </a:solidFill>
              </a:rPr>
              <a:t>Producto</a:t>
            </a:r>
            <a:r>
              <a:rPr sz="1500" b="0" dirty="0">
                <a:solidFill>
                  <a:srgbClr val="333333"/>
                </a:solidFill>
              </a:rPr>
              <a:t>, </a:t>
            </a:r>
            <a:r>
              <a:rPr sz="1500" b="0" dirty="0" err="1">
                <a:solidFill>
                  <a:srgbClr val="333333"/>
                </a:solidFill>
              </a:rPr>
              <a:t>Promoción</a:t>
            </a:r>
            <a:r>
              <a:rPr sz="1500" b="0" dirty="0">
                <a:solidFill>
                  <a:srgbClr val="333333"/>
                </a:solidFill>
              </a:rPr>
              <a:t>, </a:t>
            </a:r>
            <a:r>
              <a:rPr sz="1500" b="0" dirty="0" err="1">
                <a:solidFill>
                  <a:srgbClr val="333333"/>
                </a:solidFill>
              </a:rPr>
              <a:t>Tiempo</a:t>
            </a:r>
            <a:r>
              <a:rPr sz="1500" b="0" dirty="0">
                <a:solidFill>
                  <a:srgbClr val="333333"/>
                </a:solidFill>
              </a:rPr>
              <a:t>, </a:t>
            </a:r>
            <a:r>
              <a:rPr sz="1500" b="0" dirty="0" err="1">
                <a:solidFill>
                  <a:srgbClr val="333333"/>
                </a:solidFill>
              </a:rPr>
              <a:t>Contexto</a:t>
            </a:r>
            <a:r>
              <a:rPr sz="1500" b="0" dirty="0">
                <a:solidFill>
                  <a:srgbClr val="333333"/>
                </a:solidFill>
              </a:rPr>
              <a:t> y Tienda) y la </a:t>
            </a:r>
            <a:r>
              <a:rPr sz="1500" b="0" dirty="0" err="1">
                <a:solidFill>
                  <a:srgbClr val="333333"/>
                </a:solidFill>
              </a:rPr>
              <a:t>tabla</a:t>
            </a:r>
            <a:r>
              <a:rPr sz="1500" b="0" dirty="0">
                <a:solidFill>
                  <a:srgbClr val="333333"/>
                </a:solidFill>
              </a:rPr>
              <a:t> de </a:t>
            </a:r>
            <a:r>
              <a:rPr sz="1500" b="0" dirty="0" err="1">
                <a:solidFill>
                  <a:srgbClr val="333333"/>
                </a:solidFill>
              </a:rPr>
              <a:t>hechos</a:t>
            </a:r>
            <a:r>
              <a:rPr sz="1500" b="0" dirty="0">
                <a:solidFill>
                  <a:srgbClr val="333333"/>
                </a:solidFill>
              </a:rPr>
              <a:t> </a:t>
            </a:r>
            <a:r>
              <a:rPr sz="1500" b="0" dirty="0" err="1">
                <a:solidFill>
                  <a:srgbClr val="333333"/>
                </a:solidFill>
              </a:rPr>
              <a:t>factVentas</a:t>
            </a:r>
            <a:r>
              <a:rPr sz="1500" b="0" dirty="0">
                <a:solidFill>
                  <a:srgbClr val="333333"/>
                </a:solidFill>
              </a:rPr>
              <a:t>, </a:t>
            </a:r>
            <a:r>
              <a:rPr sz="1500" b="0" dirty="0" err="1">
                <a:solidFill>
                  <a:srgbClr val="333333"/>
                </a:solidFill>
              </a:rPr>
              <a:t>definiendo</a:t>
            </a:r>
            <a:r>
              <a:rPr sz="1500" b="0" dirty="0">
                <a:solidFill>
                  <a:srgbClr val="333333"/>
                </a:solidFill>
              </a:rPr>
              <a:t> </a:t>
            </a:r>
            <a:r>
              <a:rPr sz="1500" b="0" dirty="0" err="1">
                <a:solidFill>
                  <a:srgbClr val="333333"/>
                </a:solidFill>
              </a:rPr>
              <a:t>su</a:t>
            </a:r>
            <a:r>
              <a:rPr sz="1500" b="0" dirty="0">
                <a:solidFill>
                  <a:srgbClr val="333333"/>
                </a:solidFill>
              </a:rPr>
              <a:t> </a:t>
            </a:r>
            <a:r>
              <a:rPr sz="1500" b="0" dirty="0" err="1">
                <a:solidFill>
                  <a:srgbClr val="333333"/>
                </a:solidFill>
              </a:rPr>
              <a:t>proceso</a:t>
            </a:r>
            <a:r>
              <a:rPr sz="1500" b="0" dirty="0">
                <a:solidFill>
                  <a:srgbClr val="333333"/>
                </a:solidFill>
              </a:rPr>
              <a:t> de ETL.</a:t>
            </a:r>
          </a:p>
          <a:p>
            <a:pPr>
              <a:spcAft>
                <a:spcPts val="2000"/>
              </a:spcAft>
            </a:pPr>
            <a:r>
              <a:rPr lang="es-ES" sz="1500" b="1" dirty="0">
                <a:solidFill>
                  <a:srgbClr val="0070C0"/>
                </a:solidFill>
              </a:rPr>
              <a:t>2.</a:t>
            </a:r>
            <a:r>
              <a:rPr sz="1500" b="1" dirty="0" err="1">
                <a:solidFill>
                  <a:srgbClr val="0070C0"/>
                </a:solidFill>
              </a:rPr>
              <a:t>Extracción</a:t>
            </a:r>
            <a:r>
              <a:rPr sz="1500" b="1" dirty="0">
                <a:solidFill>
                  <a:srgbClr val="0070C0"/>
                </a:solidFill>
              </a:rPr>
              <a:t>, </a:t>
            </a:r>
            <a:r>
              <a:rPr sz="1500" b="1" dirty="0" err="1">
                <a:solidFill>
                  <a:srgbClr val="0070C0"/>
                </a:solidFill>
              </a:rPr>
              <a:t>limpieza</a:t>
            </a:r>
            <a:r>
              <a:rPr sz="1500" b="1" dirty="0">
                <a:solidFill>
                  <a:srgbClr val="0070C0"/>
                </a:solidFill>
              </a:rPr>
              <a:t> y carga: </a:t>
            </a:r>
            <a:r>
              <a:rPr sz="1500" b="0" dirty="0">
                <a:solidFill>
                  <a:srgbClr val="333333"/>
                </a:solidFill>
              </a:rPr>
              <a:t>se </a:t>
            </a:r>
            <a:r>
              <a:rPr sz="1500" b="0" dirty="0" err="1">
                <a:solidFill>
                  <a:srgbClr val="333333"/>
                </a:solidFill>
              </a:rPr>
              <a:t>desarrolló</a:t>
            </a:r>
            <a:r>
              <a:rPr sz="1500" b="0" dirty="0">
                <a:solidFill>
                  <a:srgbClr val="333333"/>
                </a:solidFill>
              </a:rPr>
              <a:t> </a:t>
            </a:r>
            <a:r>
              <a:rPr sz="1500" b="0" dirty="0" err="1">
                <a:solidFill>
                  <a:srgbClr val="333333"/>
                </a:solidFill>
              </a:rPr>
              <a:t>el</a:t>
            </a:r>
            <a:r>
              <a:rPr sz="1500" b="0" dirty="0">
                <a:solidFill>
                  <a:srgbClr val="333333"/>
                </a:solidFill>
              </a:rPr>
              <a:t> ETL </a:t>
            </a:r>
            <a:r>
              <a:rPr sz="1500" b="0" dirty="0" err="1">
                <a:solidFill>
                  <a:srgbClr val="333333"/>
                </a:solidFill>
              </a:rPr>
              <a:t>en</a:t>
            </a:r>
            <a:r>
              <a:rPr sz="1500" b="0" dirty="0">
                <a:solidFill>
                  <a:srgbClr val="333333"/>
                </a:solidFill>
              </a:rPr>
              <a:t> SSIS </a:t>
            </a:r>
            <a:r>
              <a:rPr sz="1500" b="0" dirty="0" err="1">
                <a:solidFill>
                  <a:srgbClr val="333333"/>
                </a:solidFill>
              </a:rPr>
              <a:t>cargando</a:t>
            </a:r>
            <a:r>
              <a:rPr sz="1500" b="0" dirty="0">
                <a:solidFill>
                  <a:srgbClr val="333333"/>
                </a:solidFill>
              </a:rPr>
              <a:t> 76,000 </a:t>
            </a:r>
            <a:r>
              <a:rPr sz="1500" b="0" dirty="0" err="1">
                <a:solidFill>
                  <a:srgbClr val="333333"/>
                </a:solidFill>
              </a:rPr>
              <a:t>registros</a:t>
            </a:r>
            <a:r>
              <a:rPr sz="1500" b="0" dirty="0">
                <a:solidFill>
                  <a:srgbClr val="333333"/>
                </a:solidFill>
              </a:rPr>
              <a:t> </a:t>
            </a:r>
            <a:r>
              <a:rPr sz="1500" b="0" dirty="0" err="1">
                <a:solidFill>
                  <a:srgbClr val="333333"/>
                </a:solidFill>
              </a:rPr>
              <a:t>mediante</a:t>
            </a:r>
            <a:r>
              <a:rPr sz="1500" b="0" dirty="0">
                <a:solidFill>
                  <a:srgbClr val="333333"/>
                </a:solidFill>
              </a:rPr>
              <a:t> 5 </a:t>
            </a:r>
            <a:r>
              <a:rPr sz="1500" b="0" dirty="0" err="1">
                <a:solidFill>
                  <a:srgbClr val="333333"/>
                </a:solidFill>
              </a:rPr>
              <a:t>paquetes</a:t>
            </a:r>
            <a:r>
              <a:rPr sz="1500" b="0" dirty="0">
                <a:solidFill>
                  <a:srgbClr val="333333"/>
                </a:solidFill>
              </a:rPr>
              <a:t> de </a:t>
            </a:r>
            <a:r>
              <a:rPr sz="1500" b="0" dirty="0" err="1">
                <a:solidFill>
                  <a:srgbClr val="333333"/>
                </a:solidFill>
              </a:rPr>
              <a:t>dimensiones</a:t>
            </a:r>
            <a:r>
              <a:rPr sz="1500" b="0" dirty="0">
                <a:solidFill>
                  <a:srgbClr val="333333"/>
                </a:solidFill>
              </a:rPr>
              <a:t> y 1 </a:t>
            </a:r>
            <a:r>
              <a:rPr sz="1500" b="0" dirty="0" err="1">
                <a:solidFill>
                  <a:srgbClr val="333333"/>
                </a:solidFill>
              </a:rPr>
              <a:t>paquete</a:t>
            </a:r>
            <a:r>
              <a:rPr sz="1500" b="0" dirty="0">
                <a:solidFill>
                  <a:srgbClr val="333333"/>
                </a:solidFill>
              </a:rPr>
              <a:t> de </a:t>
            </a:r>
            <a:r>
              <a:rPr sz="1500" b="0" dirty="0" err="1">
                <a:solidFill>
                  <a:srgbClr val="333333"/>
                </a:solidFill>
              </a:rPr>
              <a:t>hechos</a:t>
            </a:r>
            <a:r>
              <a:rPr sz="1500" b="0" dirty="0">
                <a:solidFill>
                  <a:srgbClr val="333333"/>
                </a:solidFill>
              </a:rPr>
              <a:t> con </a:t>
            </a:r>
            <a:r>
              <a:rPr sz="1500" b="0" dirty="0" err="1">
                <a:solidFill>
                  <a:srgbClr val="333333"/>
                </a:solidFill>
              </a:rPr>
              <a:t>búsquedas</a:t>
            </a:r>
            <a:r>
              <a:rPr sz="1500" b="0" dirty="0">
                <a:solidFill>
                  <a:srgbClr val="333333"/>
                </a:solidFill>
              </a:rPr>
              <a:t> de claves </a:t>
            </a:r>
            <a:r>
              <a:rPr sz="1500" b="0" dirty="0" err="1">
                <a:solidFill>
                  <a:srgbClr val="333333"/>
                </a:solidFill>
              </a:rPr>
              <a:t>subrogadas</a:t>
            </a:r>
            <a:r>
              <a:rPr sz="1500" b="0" dirty="0">
                <a:solidFill>
                  <a:srgbClr val="333333"/>
                </a:solidFill>
              </a:rPr>
              <a:t>.</a:t>
            </a:r>
          </a:p>
          <a:p>
            <a:pPr>
              <a:spcAft>
                <a:spcPts val="2000"/>
              </a:spcAft>
            </a:pPr>
            <a:r>
              <a:rPr lang="es-ES" sz="1500" b="1" dirty="0">
                <a:solidFill>
                  <a:srgbClr val="0070C0"/>
                </a:solidFill>
              </a:rPr>
              <a:t>3.</a:t>
            </a:r>
            <a:r>
              <a:rPr sz="1500" b="1" dirty="0" err="1">
                <a:solidFill>
                  <a:srgbClr val="0070C0"/>
                </a:solidFill>
              </a:rPr>
              <a:t>Validación</a:t>
            </a:r>
            <a:r>
              <a:rPr sz="1500" b="1" dirty="0">
                <a:solidFill>
                  <a:srgbClr val="0070C0"/>
                </a:solidFill>
              </a:rPr>
              <a:t> de </a:t>
            </a:r>
            <a:r>
              <a:rPr sz="1500" b="1" dirty="0" err="1">
                <a:solidFill>
                  <a:srgbClr val="0070C0"/>
                </a:solidFill>
              </a:rPr>
              <a:t>datos</a:t>
            </a:r>
            <a:r>
              <a:rPr sz="1500" b="1" dirty="0">
                <a:solidFill>
                  <a:srgbClr val="0070C0"/>
                </a:solidFill>
              </a:rPr>
              <a:t>: </a:t>
            </a:r>
            <a:r>
              <a:rPr sz="1500" b="0" dirty="0" err="1">
                <a:solidFill>
                  <a:srgbClr val="333333"/>
                </a:solidFill>
              </a:rPr>
              <a:t>los</a:t>
            </a:r>
            <a:r>
              <a:rPr sz="1500" b="0" dirty="0">
                <a:solidFill>
                  <a:srgbClr val="333333"/>
                </a:solidFill>
              </a:rPr>
              <a:t> </a:t>
            </a:r>
            <a:r>
              <a:rPr sz="1500" b="0" dirty="0" err="1">
                <a:solidFill>
                  <a:srgbClr val="333333"/>
                </a:solidFill>
              </a:rPr>
              <a:t>orígenes</a:t>
            </a:r>
            <a:r>
              <a:rPr sz="1500" b="0" dirty="0">
                <a:solidFill>
                  <a:srgbClr val="333333"/>
                </a:solidFill>
              </a:rPr>
              <a:t> se </a:t>
            </a:r>
            <a:r>
              <a:rPr sz="1500" b="0" dirty="0" err="1">
                <a:solidFill>
                  <a:srgbClr val="333333"/>
                </a:solidFill>
              </a:rPr>
              <a:t>compararon</a:t>
            </a:r>
            <a:r>
              <a:rPr sz="1500" b="0" dirty="0">
                <a:solidFill>
                  <a:srgbClr val="333333"/>
                </a:solidFill>
              </a:rPr>
              <a:t> </a:t>
            </a:r>
            <a:r>
              <a:rPr sz="1500" b="0" dirty="0" err="1">
                <a:solidFill>
                  <a:srgbClr val="333333"/>
                </a:solidFill>
              </a:rPr>
              <a:t>frente</a:t>
            </a:r>
            <a:r>
              <a:rPr sz="1500" b="0" dirty="0">
                <a:solidFill>
                  <a:srgbClr val="333333"/>
                </a:solidFill>
              </a:rPr>
              <a:t> al </a:t>
            </a:r>
            <a:r>
              <a:rPr sz="1500" b="0" dirty="0" err="1">
                <a:solidFill>
                  <a:srgbClr val="333333"/>
                </a:solidFill>
              </a:rPr>
              <a:t>destino</a:t>
            </a:r>
            <a:r>
              <a:rPr sz="1500" b="0" dirty="0">
                <a:solidFill>
                  <a:srgbClr val="333333"/>
                </a:solidFill>
              </a:rPr>
              <a:t> fila </a:t>
            </a:r>
            <a:r>
              <a:rPr sz="1500" b="0" dirty="0" err="1">
                <a:solidFill>
                  <a:srgbClr val="333333"/>
                </a:solidFill>
              </a:rPr>
              <a:t>por</a:t>
            </a:r>
            <a:r>
              <a:rPr sz="1500" b="0" dirty="0">
                <a:solidFill>
                  <a:srgbClr val="333333"/>
                </a:solidFill>
              </a:rPr>
              <a:t> fila, se </a:t>
            </a:r>
            <a:r>
              <a:rPr sz="1500" b="0" dirty="0" err="1">
                <a:solidFill>
                  <a:srgbClr val="333333"/>
                </a:solidFill>
              </a:rPr>
              <a:t>validaron</a:t>
            </a:r>
            <a:r>
              <a:rPr sz="1500" b="0" dirty="0">
                <a:solidFill>
                  <a:srgbClr val="333333"/>
                </a:solidFill>
              </a:rPr>
              <a:t> </a:t>
            </a:r>
            <a:r>
              <a:rPr sz="1500" b="0" dirty="0" err="1">
                <a:solidFill>
                  <a:srgbClr val="333333"/>
                </a:solidFill>
              </a:rPr>
              <a:t>los</a:t>
            </a:r>
            <a:r>
              <a:rPr sz="1500" b="0" dirty="0">
                <a:solidFill>
                  <a:srgbClr val="333333"/>
                </a:solidFill>
              </a:rPr>
              <a:t> </a:t>
            </a:r>
            <a:r>
              <a:rPr sz="1500" b="0" dirty="0" err="1">
                <a:solidFill>
                  <a:srgbClr val="333333"/>
                </a:solidFill>
              </a:rPr>
              <a:t>tipos</a:t>
            </a:r>
            <a:r>
              <a:rPr sz="1500" b="0" dirty="0">
                <a:solidFill>
                  <a:srgbClr val="333333"/>
                </a:solidFill>
              </a:rPr>
              <a:t> de </a:t>
            </a:r>
            <a:r>
              <a:rPr sz="1500" b="0" dirty="0" err="1">
                <a:solidFill>
                  <a:srgbClr val="333333"/>
                </a:solidFill>
              </a:rPr>
              <a:t>datos</a:t>
            </a:r>
            <a:r>
              <a:rPr sz="1500" b="0" dirty="0">
                <a:solidFill>
                  <a:srgbClr val="333333"/>
                </a:solidFill>
              </a:rPr>
              <a:t> y se </a:t>
            </a:r>
            <a:r>
              <a:rPr sz="1500" b="0" dirty="0" err="1">
                <a:solidFill>
                  <a:srgbClr val="333333"/>
                </a:solidFill>
              </a:rPr>
              <a:t>logró</a:t>
            </a:r>
            <a:r>
              <a:rPr sz="1500" b="0" dirty="0">
                <a:solidFill>
                  <a:srgbClr val="333333"/>
                </a:solidFill>
              </a:rPr>
              <a:t> 0 </a:t>
            </a:r>
            <a:r>
              <a:rPr sz="1500" b="0" dirty="0" err="1">
                <a:solidFill>
                  <a:srgbClr val="333333"/>
                </a:solidFill>
              </a:rPr>
              <a:t>nulos</a:t>
            </a:r>
            <a:r>
              <a:rPr sz="1500" b="0" dirty="0">
                <a:solidFill>
                  <a:srgbClr val="333333"/>
                </a:solidFill>
              </a:rPr>
              <a:t>, 0 </a:t>
            </a:r>
            <a:r>
              <a:rPr sz="1500" b="0" dirty="0" err="1">
                <a:solidFill>
                  <a:srgbClr val="333333"/>
                </a:solidFill>
              </a:rPr>
              <a:t>duplicados</a:t>
            </a:r>
            <a:r>
              <a:rPr sz="1500" b="0" dirty="0">
                <a:solidFill>
                  <a:srgbClr val="333333"/>
                </a:solidFill>
              </a:rPr>
              <a:t>, </a:t>
            </a:r>
            <a:r>
              <a:rPr sz="1500" b="0" dirty="0" err="1">
                <a:solidFill>
                  <a:srgbClr val="333333"/>
                </a:solidFill>
              </a:rPr>
              <a:t>corrigiendo</a:t>
            </a:r>
            <a:r>
              <a:rPr sz="1500" b="0" dirty="0">
                <a:solidFill>
                  <a:srgbClr val="333333"/>
                </a:solidFill>
              </a:rPr>
              <a:t> 70 </a:t>
            </a:r>
            <a:r>
              <a:rPr sz="1500" b="0" dirty="0" err="1">
                <a:solidFill>
                  <a:srgbClr val="333333"/>
                </a:solidFill>
              </a:rPr>
              <a:t>precios</a:t>
            </a:r>
            <a:r>
              <a:rPr sz="1500" b="0" dirty="0">
                <a:solidFill>
                  <a:srgbClr val="333333"/>
                </a:solidFill>
              </a:rPr>
              <a:t> </a:t>
            </a:r>
            <a:r>
              <a:rPr sz="1500" b="0" dirty="0" err="1">
                <a:solidFill>
                  <a:srgbClr val="333333"/>
                </a:solidFill>
              </a:rPr>
              <a:t>atípicos</a:t>
            </a:r>
            <a:r>
              <a:rPr sz="1500" b="0" dirty="0">
                <a:solidFill>
                  <a:srgbClr val="333333"/>
                </a:solidFill>
              </a:rPr>
              <a:t> y 20 </a:t>
            </a:r>
            <a:r>
              <a:rPr sz="1500" b="0" dirty="0" err="1">
                <a:solidFill>
                  <a:srgbClr val="333333"/>
                </a:solidFill>
              </a:rPr>
              <a:t>categorías</a:t>
            </a:r>
            <a:r>
              <a:rPr sz="1500" b="0" dirty="0">
                <a:solidFill>
                  <a:srgbClr val="333333"/>
                </a:solidFill>
              </a:rPr>
              <a:t> </a:t>
            </a:r>
            <a:r>
              <a:rPr sz="1500" b="0" dirty="0" err="1">
                <a:solidFill>
                  <a:srgbClr val="333333"/>
                </a:solidFill>
              </a:rPr>
              <a:t>inconsistentes</a:t>
            </a:r>
            <a:r>
              <a:rPr sz="1500" b="0" dirty="0">
                <a:solidFill>
                  <a:srgbClr val="333333"/>
                </a:solidFill>
              </a:rPr>
              <a:t>.</a:t>
            </a:r>
          </a:p>
          <a:p>
            <a:pPr>
              <a:spcAft>
                <a:spcPts val="2000"/>
              </a:spcAft>
            </a:pPr>
            <a:r>
              <a:rPr lang="es-ES" sz="1500" b="1" dirty="0">
                <a:solidFill>
                  <a:srgbClr val="0070C0"/>
                </a:solidFill>
              </a:rPr>
              <a:t>4.</a:t>
            </a:r>
            <a:r>
              <a:rPr sz="1500" b="1" dirty="0" err="1">
                <a:solidFill>
                  <a:srgbClr val="0070C0"/>
                </a:solidFill>
              </a:rPr>
              <a:t>Consumo</a:t>
            </a:r>
            <a:r>
              <a:rPr sz="1500" b="1" dirty="0">
                <a:solidFill>
                  <a:srgbClr val="0070C0"/>
                </a:solidFill>
              </a:rPr>
              <a:t> de </a:t>
            </a:r>
            <a:r>
              <a:rPr sz="1500" b="1" dirty="0" err="1">
                <a:solidFill>
                  <a:srgbClr val="0070C0"/>
                </a:solidFill>
              </a:rPr>
              <a:t>datos</a:t>
            </a:r>
            <a:r>
              <a:rPr sz="1500" b="1" dirty="0">
                <a:solidFill>
                  <a:srgbClr val="0070C0"/>
                </a:solidFill>
              </a:rPr>
              <a:t>: </a:t>
            </a:r>
            <a:r>
              <a:rPr sz="1500" b="0" dirty="0">
                <a:solidFill>
                  <a:srgbClr val="333333"/>
                </a:solidFill>
              </a:rPr>
              <a:t>se </a:t>
            </a:r>
            <a:r>
              <a:rPr sz="1500" b="0" dirty="0" err="1">
                <a:solidFill>
                  <a:srgbClr val="333333"/>
                </a:solidFill>
              </a:rPr>
              <a:t>construyó</a:t>
            </a:r>
            <a:r>
              <a:rPr sz="1500" b="0" dirty="0">
                <a:solidFill>
                  <a:srgbClr val="333333"/>
                </a:solidFill>
              </a:rPr>
              <a:t> un dashboard </a:t>
            </a:r>
            <a:r>
              <a:rPr sz="1500" b="0" dirty="0" err="1">
                <a:solidFill>
                  <a:srgbClr val="333333"/>
                </a:solidFill>
              </a:rPr>
              <a:t>en</a:t>
            </a:r>
            <a:r>
              <a:rPr sz="1500" b="0" dirty="0">
                <a:solidFill>
                  <a:srgbClr val="333333"/>
                </a:solidFill>
              </a:rPr>
              <a:t> Power BI con </a:t>
            </a:r>
            <a:r>
              <a:rPr sz="1500" b="0" dirty="0" err="1">
                <a:solidFill>
                  <a:srgbClr val="333333"/>
                </a:solidFill>
              </a:rPr>
              <a:t>parámetros</a:t>
            </a:r>
            <a:r>
              <a:rPr sz="1500" b="0" dirty="0">
                <a:solidFill>
                  <a:srgbClr val="333333"/>
                </a:solidFill>
              </a:rPr>
              <a:t> </a:t>
            </a:r>
            <a:r>
              <a:rPr sz="1500" b="0" dirty="0" err="1">
                <a:solidFill>
                  <a:srgbClr val="333333"/>
                </a:solidFill>
              </a:rPr>
              <a:t>interactivos</a:t>
            </a:r>
            <a:r>
              <a:rPr sz="1500" b="0" dirty="0">
                <a:solidFill>
                  <a:srgbClr val="333333"/>
                </a:solidFill>
              </a:rPr>
              <a:t> de </a:t>
            </a:r>
            <a:r>
              <a:rPr sz="1500" b="0" dirty="0" err="1">
                <a:solidFill>
                  <a:srgbClr val="333333"/>
                </a:solidFill>
              </a:rPr>
              <a:t>Región</a:t>
            </a:r>
            <a:r>
              <a:rPr sz="1500" b="0" dirty="0">
                <a:solidFill>
                  <a:srgbClr val="333333"/>
                </a:solidFill>
              </a:rPr>
              <a:t> y </a:t>
            </a:r>
            <a:r>
              <a:rPr sz="1500" b="0" dirty="0" err="1">
                <a:solidFill>
                  <a:srgbClr val="333333"/>
                </a:solidFill>
              </a:rPr>
              <a:t>Categoría</a:t>
            </a:r>
            <a:r>
              <a:rPr sz="1500" b="0" dirty="0">
                <a:solidFill>
                  <a:srgbClr val="333333"/>
                </a:solidFill>
              </a:rPr>
              <a:t> y KPIs </a:t>
            </a:r>
            <a:r>
              <a:rPr sz="1500" b="0" dirty="0" err="1">
                <a:solidFill>
                  <a:srgbClr val="333333"/>
                </a:solidFill>
              </a:rPr>
              <a:t>comerciales</a:t>
            </a:r>
            <a:r>
              <a:rPr sz="1500" b="0" dirty="0">
                <a:solidFill>
                  <a:srgbClr val="333333"/>
                </a:solidFill>
              </a:rPr>
              <a:t> (</a:t>
            </a:r>
            <a:r>
              <a:rPr sz="1500" b="0" dirty="0" err="1">
                <a:solidFill>
                  <a:srgbClr val="333333"/>
                </a:solidFill>
              </a:rPr>
              <a:t>ventas</a:t>
            </a:r>
            <a:r>
              <a:rPr sz="1500" b="0" dirty="0">
                <a:solidFill>
                  <a:srgbClr val="333333"/>
                </a:solidFill>
              </a:rPr>
              <a:t> </a:t>
            </a:r>
            <a:r>
              <a:rPr sz="1500" b="0" dirty="0" err="1">
                <a:solidFill>
                  <a:srgbClr val="333333"/>
                </a:solidFill>
              </a:rPr>
              <a:t>netas</a:t>
            </a:r>
            <a:r>
              <a:rPr sz="1500" b="0" dirty="0">
                <a:solidFill>
                  <a:srgbClr val="333333"/>
                </a:solidFill>
              </a:rPr>
              <a:t> $412.6 M, </a:t>
            </a:r>
            <a:r>
              <a:rPr sz="1500" b="0" dirty="0" err="1">
                <a:solidFill>
                  <a:srgbClr val="333333"/>
                </a:solidFill>
              </a:rPr>
              <a:t>unidades</a:t>
            </a:r>
            <a:r>
              <a:rPr sz="1500" b="0" dirty="0">
                <a:solidFill>
                  <a:srgbClr val="333333"/>
                </a:solidFill>
              </a:rPr>
              <a:t> 6,750,876, </a:t>
            </a:r>
            <a:r>
              <a:rPr sz="1500" b="0" dirty="0" err="1">
                <a:solidFill>
                  <a:srgbClr val="333333"/>
                </a:solidFill>
              </a:rPr>
              <a:t>efecto</a:t>
            </a:r>
            <a:r>
              <a:rPr sz="1500" b="0" dirty="0">
                <a:solidFill>
                  <a:srgbClr val="333333"/>
                </a:solidFill>
              </a:rPr>
              <a:t> </a:t>
            </a:r>
            <a:r>
              <a:rPr sz="1500" b="0" dirty="0" err="1">
                <a:solidFill>
                  <a:srgbClr val="333333"/>
                </a:solidFill>
              </a:rPr>
              <a:t>promoción</a:t>
            </a:r>
            <a:r>
              <a:rPr sz="1500" b="0" dirty="0">
                <a:solidFill>
                  <a:srgbClr val="333333"/>
                </a:solidFill>
              </a:rPr>
              <a:t> ≈ +30%).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0000" y="0"/>
            <a:ext cx="116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600"/>
              </a:spcAft>
            </a:pPr>
            <a:r>
              <a:rPr lang="es-ES" sz="1500" b="1" dirty="0">
                <a:solidFill>
                  <a:srgbClr val="0070C0"/>
                </a:solidFill>
              </a:rPr>
              <a:t>1. Gestión de abastecimiento: </a:t>
            </a:r>
            <a:r>
              <a:rPr lang="es-ES" sz="1500" b="1" dirty="0">
                <a:solidFill>
                  <a:schemeClr val="tx1"/>
                </a:solidFill>
              </a:rPr>
              <a:t>Reforzar el stock de P0009 (East) y P0018 (North) e implementar una alerta de quiebre de stock cuando el cumplimiento ventas vs demanda sea inferior al 85%.</a:t>
            </a:r>
          </a:p>
          <a:p>
            <a:pPr>
              <a:spcAft>
                <a:spcPts val="1600"/>
              </a:spcAft>
            </a:pPr>
            <a:r>
              <a:rPr lang="es-ES" sz="1500" b="1" dirty="0">
                <a:solidFill>
                  <a:srgbClr val="0070C0"/>
                </a:solidFill>
              </a:rPr>
              <a:t>2. Inventario según estacionalidad y clima: </a:t>
            </a:r>
            <a:r>
              <a:rPr lang="es-ES" sz="1500" b="1" dirty="0">
                <a:solidFill>
                  <a:schemeClr val="tx1"/>
                </a:solidFill>
              </a:rPr>
              <a:t>Incrementar stock en verano y días soleados, y optimizar los niveles en primavera y días con nieve.</a:t>
            </a:r>
          </a:p>
          <a:p>
            <a:pPr>
              <a:spcAft>
                <a:spcPts val="1600"/>
              </a:spcAft>
            </a:pPr>
            <a:r>
              <a:rPr lang="es-ES" sz="1500" b="1" dirty="0">
                <a:solidFill>
                  <a:srgbClr val="0070C0"/>
                </a:solidFill>
              </a:rPr>
              <a:t>3. Promociones focalizadas: </a:t>
            </a:r>
            <a:r>
              <a:rPr lang="es-ES" sz="1500" b="1" dirty="0">
                <a:solidFill>
                  <a:schemeClr val="tx1"/>
                </a:solidFill>
              </a:rPr>
              <a:t>Intensificar las promociones por categoría y temporada, aprovechando el incremento de ≈ +30% de demanda promedio que generan los descuentos.</a:t>
            </a:r>
          </a:p>
          <a:p>
            <a:pPr>
              <a:spcAft>
                <a:spcPts val="1600"/>
              </a:spcAft>
            </a:pPr>
            <a:r>
              <a:rPr lang="es-ES" sz="1500" b="1" dirty="0">
                <a:solidFill>
                  <a:srgbClr val="0070C0"/>
                </a:solidFill>
              </a:rPr>
              <a:t>4. Investigar la contracción de ventas: </a:t>
            </a:r>
            <a:r>
              <a:rPr lang="es-ES" sz="1500" b="1" dirty="0">
                <a:solidFill>
                  <a:schemeClr val="tx1"/>
                </a:solidFill>
              </a:rPr>
              <a:t>Analizar las causas de la caída de febrero (−42.8%), abril (−21.2%) y octubre (−22.5%) de 2023, posibles quiebres de stock u oferta.</a:t>
            </a:r>
          </a:p>
          <a:p>
            <a:pPr>
              <a:spcAft>
                <a:spcPts val="1600"/>
              </a:spcAft>
            </a:pPr>
            <a:r>
              <a:rPr lang="es-ES" sz="1500" b="1" dirty="0">
                <a:solidFill>
                  <a:srgbClr val="0070C0"/>
                </a:solidFill>
              </a:rPr>
              <a:t>5. Dimensión cliente: </a:t>
            </a:r>
            <a:r>
              <a:rPr lang="es-ES" sz="1500" b="1" dirty="0">
                <a:solidFill>
                  <a:schemeClr val="tx1"/>
                </a:solidFill>
              </a:rPr>
              <a:t>Incorporarla en futuras versiones del modelo para medir frecuencia de compra, ticket promedio real y lealtad.</a:t>
            </a:r>
          </a:p>
          <a:p>
            <a:pPr>
              <a:spcAft>
                <a:spcPts val="1600"/>
              </a:spcAft>
            </a:pPr>
            <a:r>
              <a:rPr lang="es-ES" sz="1500" b="1" dirty="0">
                <a:solidFill>
                  <a:srgbClr val="0070C0"/>
                </a:solidFill>
              </a:rPr>
              <a:t>6. Modelos predictivos: </a:t>
            </a:r>
            <a:r>
              <a:rPr lang="es-ES" sz="1500" b="1" dirty="0">
                <a:solidFill>
                  <a:schemeClr val="tx1"/>
                </a:solidFill>
              </a:rPr>
              <a:t>Complementar el análisis descriptivo con predicción de demanda; el piloto con Random Forest alcanzó un R² de 0.74.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0000"/>
            <a:ext cx="12192000" cy="90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0000" y="283001"/>
            <a:ext cx="1119200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lang="es-ES" sz="3000" b="1" dirty="0">
                <a:solidFill>
                  <a:srgbClr val="FFFFFF"/>
                </a:solidFill>
              </a:rPr>
              <a:t>Recomendación 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0000" y="6300000"/>
            <a:ext cx="10992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dirty="0">
                <a:solidFill>
                  <a:srgbClr val="1F3864"/>
                </a:solidFill>
              </a:rPr>
              <a:t>Gracias </a:t>
            </a:r>
            <a:r>
              <a:rPr sz="2000" b="1" dirty="0" err="1">
                <a:solidFill>
                  <a:srgbClr val="1F3864"/>
                </a:solidFill>
              </a:rPr>
              <a:t>por</a:t>
            </a:r>
            <a:r>
              <a:rPr sz="2000" b="1" dirty="0">
                <a:solidFill>
                  <a:srgbClr val="1F3864"/>
                </a:solidFill>
              </a:rPr>
              <a:t> </a:t>
            </a:r>
            <a:r>
              <a:rPr sz="2000" b="1" dirty="0" err="1">
                <a:solidFill>
                  <a:srgbClr val="1F3864"/>
                </a:solidFill>
              </a:rPr>
              <a:t>su</a:t>
            </a:r>
            <a:r>
              <a:rPr sz="2000" b="1" dirty="0">
                <a:solidFill>
                  <a:srgbClr val="1F3864"/>
                </a:solidFill>
              </a:rPr>
              <a:t> </a:t>
            </a:r>
            <a:r>
              <a:rPr sz="2000" b="1" dirty="0" err="1">
                <a:solidFill>
                  <a:srgbClr val="1F3864"/>
                </a:solidFill>
              </a:rPr>
              <a:t>atención</a:t>
            </a:r>
            <a:endParaRPr sz="2000" b="1" dirty="0">
              <a:solidFill>
                <a:srgbClr val="1F38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6996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1115</Words>
  <Application>Microsoft Office PowerPoint</Application>
  <PresentationFormat>Panorámica</PresentationFormat>
  <Paragraphs>117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SM73046083 (Candela Ortiz, Sebastian Matias)</cp:lastModifiedBy>
  <cp:revision>7</cp:revision>
  <dcterms:created xsi:type="dcterms:W3CDTF">2013-01-27T09:14:16Z</dcterms:created>
  <dcterms:modified xsi:type="dcterms:W3CDTF">2026-08-12T23:35:11Z</dcterms:modified>
  <cp:category/>
</cp:coreProperties>
</file>